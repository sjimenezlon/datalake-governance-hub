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Gestión y Gobernanza de Datos</a:t>
            </a:r>
            <a:br/>
            <a:r>
              <a:t>en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Lección completa: del marco teórico DAMA-DMBOK2</a:t>
            </a:r>
            <a:br/>
            <a:r>
              <a:t>al laboratorio real con Data Lake Governance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B82F6"/>
                </a:solidFill>
                <a:latin typeface="Calibri"/>
              </a:defRPr>
            </a:pPr>
            <a:r>
              <a:t>datalake-governance-hub.vercel.app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Gestión y Gobernanza de Datos — Universidad EAFIT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Contenido de la lección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600">
                <a:solidFill>
                  <a:srgbClr val="3B82F6"/>
                </a:solidFill>
                <a:latin typeface="Calibri"/>
              </a:defRPr>
            </a:pPr>
            <a:r>
              <a:t>Parte I — Fundamentos de Gestión y Gobernanza de Datos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1. ¿Qué es la Gestión de Datos? El framework DAMA-DMBOK2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2. ¿Qué es la Gobernanza de Datos? Roles, políticas y procesos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3. Marco regulatorio: Habeas Data, GDPR, y por qué importa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4. Data Lake: arquitectura, buenas prácticas y anti-patrones</a:t>
            </a:r>
          </a:p>
          <a:p>
            <a:pPr>
              <a:spcAft>
                <a:spcPts val="2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600">
                <a:solidFill>
                  <a:srgbClr val="10B981"/>
                </a:solidFill>
                <a:latin typeface="Calibri"/>
              </a:defRPr>
            </a:pPr>
            <a:r>
              <a:t>Parte II — La plataforma como caso de estudio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5. Capa Bronze: ingestión y datos crudos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6. Capa Silver: transformación, calidad y validación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7. Capa Gold: datos de negocio y consumo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8. Catálogo de datos: metadatos y descubrimiento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9. Calidad de datos: las 6 dimensiones del DMBOK2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10. Linaje: trazabilidad de origen a consumo</a:t>
            </a:r>
          </a:p>
          <a:p>
            <a:pPr>
              <a:spcAft>
                <a:spcPts val="2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600">
                <a:solidFill>
                  <a:srgbClr val="EF4444"/>
                </a:solidFill>
                <a:latin typeface="Calibri"/>
              </a:defRPr>
            </a:pPr>
            <a:r>
              <a:t>Parte III — Seguridad y operación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11. Seguridad: RLS, enmascaramiento PII, RBAC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12. Auditoría: cumplimiento y trazabilidad de accesos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13. Operación: guía tab por tab de la plataforma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14. Modelo de madurez y siguientes pasos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4630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¿Qué es la Gestión de Datos?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El framework DAMA-DMBOK2 y sus 11 áreas de conocimiento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Gestión de Datos: definición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DAMA-DMBOK2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La Gestión de Datos (Data Management) es el desarrollo, ejecución y supervisión de planes, políticas, programas y prácticas que entregan, controlan, protegen y mejoran el valor de los datos e información.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— DAMA International, DMBOK2 (2017)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¿Por qué importa?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Los datos son el activo más valioso de una organización moderna — pero solo si se gestionan bien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Sin gestión: datos duplicados, inconsistentes, inaccesibles, inseguros → decisiones incorrectas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Con gestión: datos confiables, accesibles, seguros, trazables → ventaja competitiva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IDC estima que las empresas pierden hasta el 30% de ingresos por mala calidad de datos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El mercado de Data Governance pasará de $2.1B (2023) a $7.9B (2028) — CAGR del 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En nuestra plataforma: implementamos 6 de las 11 áreas de conocimiento del DMBOK2 de forma real y operativa.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Las 11 áreas de conocimiento del DAMA-DMBOK2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DMBOK2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El DAMA-DMBOK2 organiza la gestión de datos en 11 áreas. La Gobernanza está en el centro: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EF4444"/>
                </a:solidFill>
                <a:latin typeface="Calibri"/>
              </a:defRPr>
            </a:pPr>
            <a:r>
              <a:t>1. Gobernanza de Datos</a:t>
            </a:r>
          </a:p>
          <a:p>
            <a:pPr>
              <a:spcAft>
                <a:spcPts val="200"/>
              </a:spcAft>
              <a:defRPr b="0" sz="1100">
                <a:solidFill>
                  <a:srgbClr val="3B82F6"/>
                </a:solidFill>
                <a:latin typeface="Calibri"/>
              </a:defRPr>
            </a:pPr>
            <a:r>
              <a:t>  2. Arquitectura de Datos: Modelos, estándares, Blueprint → Medallion en la plataforma</a:t>
            </a:r>
          </a:p>
          <a:p>
            <a:pPr>
              <a:spcAft>
                <a:spcPts val="200"/>
              </a:spcAft>
              <a:defRPr b="0" sz="1100">
                <a:solidFill>
                  <a:srgbClr val="3B82F6"/>
                </a:solidFill>
                <a:latin typeface="Calibri"/>
              </a:defRPr>
            </a:pPr>
            <a:r>
              <a:t>  3. Modelado y Diseño: Modelos conceptuales, lógicos, físicos → esquemas bronze/silver/gold</a:t>
            </a:r>
          </a:p>
          <a:p>
            <a:pPr>
              <a:spcAft>
                <a:spcPts val="200"/>
              </a:spcAft>
              <a:defRPr b="0" sz="1100">
                <a:solidFill>
                  <a:srgbClr val="06B6D4"/>
                </a:solidFill>
                <a:latin typeface="Calibri"/>
              </a:defRPr>
            </a:pPr>
            <a:r>
              <a:t>  4. Almacenamiento y Operaciones: Bases de datos, backups, rendimiento → Supabase PostgreSQL</a:t>
            </a:r>
          </a:p>
          <a:p>
            <a:pPr>
              <a:spcAft>
                <a:spcPts val="200"/>
              </a:spcAft>
              <a:defRPr b="0" sz="1100">
                <a:solidFill>
                  <a:srgbClr val="EF4444"/>
                </a:solidFill>
                <a:latin typeface="Calibri"/>
              </a:defRPr>
            </a:pPr>
            <a:r>
              <a:t>  5. Seguridad de Datos: Acceso, cifrado, privacidad → RLS, enmascaramiento, RBAC</a:t>
            </a:r>
          </a:p>
          <a:p>
            <a:pPr>
              <a:spcAft>
                <a:spcPts val="200"/>
              </a:spcAft>
              <a:defRPr b="0" sz="1100">
                <a:solidFill>
                  <a:srgbClr val="10B981"/>
                </a:solidFill>
                <a:latin typeface="Calibri"/>
              </a:defRPr>
            </a:pPr>
            <a:r>
              <a:t>  6. Integración e Interoperabilidad: ETL, ELT, APIs, migración → Pipeline Bronze→Silver→Gold</a:t>
            </a:r>
          </a:p>
          <a:p>
            <a:pPr>
              <a:spcAft>
                <a:spcPts val="2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7. Gestión Documental y de Contenido: Documentos, archivos, contenido no estructurado</a:t>
            </a:r>
          </a:p>
          <a:p>
            <a:pPr>
              <a:spcAft>
                <a:spcPts val="2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8. Datos Maestros y de Referencia (MDM): Golden record, entidades únicas, dominios</a:t>
            </a:r>
          </a:p>
          <a:p>
            <a:pPr>
              <a:spcAft>
                <a:spcPts val="200"/>
              </a:spcAft>
              <a:defRPr b="0" sz="1100">
                <a:solidFill>
                  <a:srgbClr val="10B981"/>
                </a:solidFill>
                <a:latin typeface="Calibri"/>
              </a:defRPr>
            </a:pPr>
            <a:r>
              <a:t>  9. Data Warehousing y BI: Data Warehouse, Data Lake, analytics → Dashboard Gold</a:t>
            </a:r>
          </a:p>
          <a:p>
            <a:pPr>
              <a:spcAft>
                <a:spcPts val="200"/>
              </a:spcAft>
              <a:defRPr b="0" sz="1100">
                <a:solidFill>
                  <a:srgbClr val="10B981"/>
                </a:solidFill>
                <a:latin typeface="Calibri"/>
              </a:defRPr>
            </a:pPr>
            <a:r>
              <a:t>  10. Metadatos: Catálogo, linaje, glosario → Tab Catálogo y Tab Linaje</a:t>
            </a:r>
          </a:p>
          <a:p>
            <a:pPr>
              <a:spcAft>
                <a:spcPts val="200"/>
              </a:spcAft>
              <a:defRPr b="0" sz="1100">
                <a:solidFill>
                  <a:srgbClr val="10B981"/>
                </a:solidFill>
                <a:latin typeface="Calibri"/>
              </a:defRPr>
            </a:pPr>
            <a:r>
              <a:t>  11. Calidad de Datos: Dimensiones, reglas, monitoreo → Tab Calidad, quality_score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Verde = implementado en la plataforma  |  Gris = no aplica directamente al ejercicio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¿Cómo implementamos cada área DAMA en la plataforma?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PRÁCTICA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931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EF4444"/>
                </a:solidFill>
                <a:latin typeface="Calibri"/>
              </a:defRPr>
            </a:pPr>
            <a:r>
              <a:t>Gobernanza (área 1)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Catálogo obligatorio, clasificación,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owners por dataset, políticas de acceso</a:t>
            </a:r>
          </a:p>
          <a:p>
            <a:pPr>
              <a:spcAft>
                <a:spcPts val="2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300">
                <a:solidFill>
                  <a:srgbClr val="3B82F6"/>
                </a:solidFill>
                <a:latin typeface="Calibri"/>
              </a:defRPr>
            </a:pPr>
            <a:r>
              <a:t>Arquitectura (área 2)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Medallion: Bronze → Silver → Gold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Separación en esquemas PostgreSQL</a:t>
            </a:r>
          </a:p>
          <a:p>
            <a:pPr>
              <a:spcAft>
                <a:spcPts val="2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300">
                <a:solidFill>
                  <a:srgbClr val="EF4444"/>
                </a:solidFill>
                <a:latin typeface="Calibri"/>
              </a:defRPr>
            </a:pPr>
            <a:r>
              <a:t>Seguridad (área 5)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RLS por rol, PII masking, RBAC,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auditoría de accesos, cifrado</a:t>
            </a:r>
          </a:p>
          <a:p>
            <a:pPr>
              <a:spcAft>
                <a:spcPts val="2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300">
                <a:solidFill>
                  <a:srgbClr val="10B981"/>
                </a:solidFill>
                <a:latin typeface="Calibri"/>
              </a:defRPr>
            </a:pPr>
            <a:r>
              <a:t>Integración (área 6)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Pipeline SQL: JSONB → tipado → agregado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API REST Supabase → Next.js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914400"/>
            <a:ext cx="4114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06B6D4"/>
                </a:solidFill>
                <a:latin typeface="Calibri"/>
              </a:defRPr>
            </a:pPr>
            <a:r>
              <a:t>BI / Data Lake (área 9)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Dashboard Gold con KPIs de negocio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Vistas materializadas para rendimiento</a:t>
            </a:r>
          </a:p>
          <a:p>
            <a:pPr>
              <a:spcAft>
                <a:spcPts val="2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300">
                <a:solidFill>
                  <a:srgbClr val="8B5CF6"/>
                </a:solidFill>
                <a:latin typeface="Calibri"/>
              </a:defRPr>
            </a:pPr>
            <a:r>
              <a:t>Metadatos (área 10)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gold.data_catalog: dueño, clasificación,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PII, freshness, quality_score por dataset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Linaje: source_record_id en Silver</a:t>
            </a:r>
          </a:p>
          <a:p>
            <a:pPr>
              <a:spcAft>
                <a:spcPts val="2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300">
                <a:solidFill>
                  <a:srgbClr val="F59E0B"/>
                </a:solidFill>
                <a:latin typeface="Calibri"/>
              </a:defRPr>
            </a:pPr>
            <a:r>
              <a:t>Calidad (área 11)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6 dimensiones DAMA implementadas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7 reglas de calidad automatizadas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Quality score por registro y dataset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Dashboard de calidad en tiempo real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4630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¿Qué es la Gobernanza de Datos?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Roles, políticas, procesos y la diferencia con gestión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Gobernanza vs Gestión de Datos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DIFERENCIA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son lo mismo. La Gobernanza DIRIGE, la Gestión EJECUTA.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500">
                <a:solidFill>
                  <a:srgbClr val="8B5CF6"/>
                </a:solidFill>
                <a:latin typeface="Calibri"/>
              </a:defRPr>
            </a:pPr>
            <a:r>
              <a:t>Gobernanza de Datos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Qué: Define políticas, estándares y roles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Quién: Comité de gobernanza, Data Owners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Cómo: Políticas, frameworks, auditorías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Cuándo: Estratégico, a largo plazo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Ejemplo: 'Los datos PII deben estar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enmascarados para roles no-admin'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500">
                <a:solidFill>
                  <a:srgbClr val="3B82F6"/>
                </a:solidFill>
                <a:latin typeface="Calibri"/>
              </a:defRPr>
            </a:pPr>
            <a:r>
              <a:t>Gestión de Datos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Qué: Implementa las políticas definidas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Quién: Data Engineers, DBAs, Stewards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Cómo: Herramientas, pipelines, código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Cuándo: Operativo, día a día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Ejemplo: 'Crear vista ventas_masked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con CONCAT(LEFT(nit,3),****)'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En nuestra plataforma: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La Gobernanza dice: 'Todo dataset debe tener dueño, clasificación y quality score' → gold.data_catalog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La Gestión implementa: el pipeline SQL que calcula quality_score y lo registra en el catálogo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Roles en la Gobernanza de Datos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Cada rol tiene responsabilidades claras. En la plataforma, se mapean a los 4 usuarios: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00">
                <a:solidFill>
                  <a:srgbClr val="FFFFFF"/>
                </a:solidFill>
                <a:latin typeface="Calibri"/>
              </a:defRPr>
            </a:pPr>
            <a:r>
              <a:t>Data Owner (Dueño de datos)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Responsable de un dominio de datos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Aprueba quién accede a sus datos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Define reglas de calidad y retención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En plataforma: 'equipo-datos' como owner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de ventas_raw y ventas_clean</a:t>
            </a:r>
          </a:p>
          <a:p>
            <a:pPr>
              <a:spcAft>
                <a:spcPts val="2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400">
                <a:solidFill>
                  <a:srgbClr val="FFFFFF"/>
                </a:solidFill>
                <a:latin typeface="Calibri"/>
              </a:defRPr>
            </a:pPr>
            <a:r>
              <a:t>Data Steward (Custodio de datos)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Operacionaliza las políticas del Owner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Monitorea calidad, resuelve incidentes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Mantiene el catálogo actualizado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En plataforma: quien actualiza data_catalog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00">
                <a:solidFill>
                  <a:srgbClr val="FFFFFF"/>
                </a:solidFill>
                <a:latin typeface="Calibri"/>
              </a:defRPr>
            </a:pPr>
            <a:r>
              <a:t>Data Engineer (Ingeniero de datos)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Construye y mantiene los pipelines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Implementa las transformaciones B→S→G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En plataforma: Carlos Martínez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Acceso: Bronze R/W + Silver R/W + Gold R</a:t>
            </a:r>
          </a:p>
          <a:p>
            <a:pPr>
              <a:spcAft>
                <a:spcPts val="2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400">
                <a:solidFill>
                  <a:srgbClr val="FFFFFF"/>
                </a:solidFill>
                <a:latin typeface="Calibri"/>
              </a:defRPr>
            </a:pPr>
            <a:r>
              <a:t>Data Consumer (Consumidor)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Usa los datos para análisis o decisiones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Data Scientist: María López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  → Silver masked + Gold + Sandbox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Analyst: Pedro García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  → Solo Gold (lectura)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Políticas de Gobernanza implementadas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POLÍTICAS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Una política es una regla organizacional. Sin políticas, la gobernanza es solo palabras.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b="1" sz="1400">
                <a:solidFill>
                  <a:srgbClr val="FFFFFF"/>
                </a:solidFill>
                <a:latin typeface="Calibri"/>
              </a:defRPr>
            </a:pPr>
            <a:r>
              <a:t>Política 1: Clasificación obligatoria de datos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Todo dataset debe clasificarse como public, internal, confidential o restricted.</a:t>
            </a:r>
          </a:p>
          <a:p>
            <a:pPr>
              <a:spcAft>
                <a:spcPts val="1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En plataforma: columna classification en gold.data_catalog. Sin clasificación, no entra al Lake.</a:t>
            </a:r>
          </a:p>
          <a:p>
            <a:pPr>
              <a:spcAft>
                <a:spcPts val="1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400">
                <a:solidFill>
                  <a:srgbClr val="FFFFFF"/>
                </a:solidFill>
                <a:latin typeface="Calibri"/>
              </a:defRPr>
            </a:pPr>
            <a:r>
              <a:t>Política 2: PII identificado y protegido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Datos con información personal (NIT, nombre, email) deben marcarse como has_pii=true.</a:t>
            </a:r>
          </a:p>
          <a:p>
            <a:pPr>
              <a:spcAft>
                <a:spcPts val="1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En plataforma: bronze.ventas_raw tiene PII=Sí. Se enmascara en silver.ventas_masked.</a:t>
            </a:r>
          </a:p>
          <a:p>
            <a:pPr>
              <a:spcAft>
                <a:spcPts val="1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400">
                <a:solidFill>
                  <a:srgbClr val="FFFFFF"/>
                </a:solidFill>
                <a:latin typeface="Calibri"/>
              </a:defRPr>
            </a:pPr>
            <a:r>
              <a:t>Política 3: Mínimo privilegio (Least Privilege)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Cada usuario accede SOLO a lo que necesita. Un analista no necesita ver Bronze.</a:t>
            </a:r>
          </a:p>
          <a:p>
            <a:pPr>
              <a:spcAft>
                <a:spcPts val="1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En plataforma: RLS en Silver, analista solo ve Gold, data scientist ve Silver masked.</a:t>
            </a:r>
          </a:p>
          <a:p>
            <a:pPr>
              <a:spcAft>
                <a:spcPts val="1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400">
                <a:solidFill>
                  <a:srgbClr val="FFFFFF"/>
                </a:solidFill>
                <a:latin typeface="Calibri"/>
              </a:defRPr>
            </a:pPr>
            <a:r>
              <a:t>Política 4: Auditoría completa de accesos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Todo acceso al Lake queda registrado: quién, qué, cuándo, cuánto, desde dónde.</a:t>
            </a:r>
          </a:p>
          <a:p>
            <a:pPr>
              <a:spcAft>
                <a:spcPts val="1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En plataforma: audit.access_log con timestamp, email, rol, acción, tabla, filas, IP.</a:t>
            </a:r>
          </a:p>
          <a:p>
            <a:pPr>
              <a:spcAft>
                <a:spcPts val="1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400">
                <a:solidFill>
                  <a:srgbClr val="FFFFFF"/>
                </a:solidFill>
                <a:latin typeface="Calibri"/>
              </a:defRPr>
            </a:pPr>
            <a:r>
              <a:t>Política 5: Calidad medida y monitoreada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Cada dataset tiene un quality_score. Si baja de 80%, se genera alerta.</a:t>
            </a:r>
          </a:p>
          <a:p>
            <a:pPr>
              <a:spcAft>
                <a:spcPts val="1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En plataforma: quality_score por registro en Silver + por dataset en data_catalog.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4630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Marco Regulatorio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¿Por qué la gobernanza de datos NO es opcional?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Regulaciones que exigen gobernanza de datos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LEGAL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500">
                <a:solidFill>
                  <a:srgbClr val="F59E0B"/>
                </a:solidFill>
                <a:latin typeface="Calibri"/>
              </a:defRPr>
            </a:pPr>
            <a:r>
              <a:t>Colombia</a:t>
            </a:r>
          </a:p>
          <a:p>
            <a:pPr>
              <a:spcAft>
                <a:spcPts val="200"/>
              </a:spcAft>
              <a:defRPr b="0" sz="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Ley 1581 de 2012 (Habeas Data)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Protección de datos personales.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Requiere: consentimiento, finalidad,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acceso, rectificación, eliminación.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En plataforma: PII masking, clasificación</a:t>
            </a:r>
          </a:p>
          <a:p>
            <a:pPr>
              <a:spcAft>
                <a:spcPts val="2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Ley 1266 de 2008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Datos financieros y crediticios.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En plataforma: classification='confidential'</a:t>
            </a:r>
          </a:p>
          <a:p>
            <a:pPr>
              <a:spcAft>
                <a:spcPts val="2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Circular 007/2018 SFC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Ciberseguridad en sector financiero.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En plataforma: auditoría, cifrado, RLS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500">
                <a:solidFill>
                  <a:srgbClr val="3B82F6"/>
                </a:solidFill>
                <a:latin typeface="Calibri"/>
              </a:defRPr>
            </a:pPr>
            <a:r>
              <a:t>Internacional</a:t>
            </a:r>
          </a:p>
          <a:p>
            <a:pPr>
              <a:spcAft>
                <a:spcPts val="200"/>
              </a:spcAft>
              <a:defRPr b="0" sz="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GDPR (Unión Europea, 2018)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El estándar global de privacidad.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Multas: hasta 4% de ingresos globales.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Requiere: DPO, DPIA, portabilidad,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derecho al olvido, breach notification.</a:t>
            </a:r>
          </a:p>
          <a:p>
            <a:pPr>
              <a:spcAft>
                <a:spcPts val="2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SOX (Sarbanes-Oxley, EE.UU.)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Control de datos financieros.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Requiere: auditoría, integridad, acceso.</a:t>
            </a:r>
          </a:p>
          <a:p>
            <a:pPr>
              <a:spcAft>
                <a:spcPts val="2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HIPAA (EE.UU. — Salud)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Datos de salud protegidos.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Requiere: cifrado, acceso controlado.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La plataforma implementa controles que satisfacen requisitos de Habeas Data, GDPR y SOX.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Cuando la gobernanza falla: casos reales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CASOS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b="1" sz="1500">
                <a:solidFill>
                  <a:srgbClr val="EF4444"/>
                </a:solidFill>
                <a:latin typeface="Calibri"/>
              </a:defRPr>
            </a:pPr>
            <a:r>
              <a:t>Capital One (2019) — 100 millones de registros filtrados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Un bucket S3 mal configurado (sin control de acceso) permitió que un atacante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accediera a nombres, NITs, scores crediticios. Multa: $80 millones USD.</a:t>
            </a:r>
          </a:p>
          <a:p>
            <a:pPr>
              <a:spcAft>
                <a:spcPts val="100"/>
              </a:spcAft>
              <a:defRPr b="0" sz="1100">
                <a:solidFill>
                  <a:srgbClr val="F59E0B"/>
                </a:solidFill>
                <a:latin typeface="Calibri"/>
              </a:defRPr>
            </a:pPr>
            <a:r>
              <a:t>  Lección: NUNCA dejar un Data Lake sin control de acceso. → En nuestra plataforma: RLS + RBAC.</a:t>
            </a:r>
          </a:p>
          <a:p>
            <a:pPr>
              <a:spcAft>
                <a:spcPts val="100"/>
              </a:spcAft>
              <a:defRPr b="0" sz="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500">
                <a:solidFill>
                  <a:srgbClr val="EF4444"/>
                </a:solidFill>
                <a:latin typeface="Calibri"/>
              </a:defRPr>
            </a:pPr>
            <a:r>
              <a:t>Equifax (2017) — 147 millones de personas afectadas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Datos de crédito expuestos por una vulnerabilidad no parcheada + falta de monitoreo.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Multa: $700 millones USD. El CEO fue despedido.</a:t>
            </a:r>
          </a:p>
          <a:p>
            <a:pPr>
              <a:spcAft>
                <a:spcPts val="100"/>
              </a:spcAft>
              <a:defRPr b="0" sz="1100">
                <a:solidFill>
                  <a:srgbClr val="F59E0B"/>
                </a:solidFill>
                <a:latin typeface="Calibri"/>
              </a:defRPr>
            </a:pPr>
            <a:r>
              <a:t>  Lección: Monitorear, auditar, cifrar. → En nuestra plataforma: auditoría + cifrado Supabase.</a:t>
            </a:r>
          </a:p>
          <a:p>
            <a:pPr>
              <a:spcAft>
                <a:spcPts val="100"/>
              </a:spcAft>
              <a:defRPr b="0" sz="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500">
                <a:solidFill>
                  <a:srgbClr val="EF4444"/>
                </a:solidFill>
                <a:latin typeface="Calibri"/>
              </a:defRPr>
            </a:pPr>
            <a:r>
              <a:t>Uber (2016) — 57 millones de registros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Un ingeniero subió credenciales de la BD a un repo público. Uber pagó $100K a los atacantes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para que eliminaran los datos en vez de reportar. Multa: $148 millones USD.</a:t>
            </a:r>
          </a:p>
          <a:p>
            <a:pPr>
              <a:spcAft>
                <a:spcPts val="100"/>
              </a:spcAft>
              <a:defRPr b="0" sz="1100">
                <a:solidFill>
                  <a:srgbClr val="F59E0B"/>
                </a:solidFill>
                <a:latin typeface="Calibri"/>
              </a:defRPr>
            </a:pPr>
            <a:r>
              <a:t>  Lección: Variables sensibles NUNCA en el código. → .env.local en .gitignore.</a:t>
            </a:r>
          </a:p>
          <a:p>
            <a:pPr>
              <a:spcAft>
                <a:spcPts val="100"/>
              </a:spcAft>
              <a:defRPr b="0" sz="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500">
                <a:solidFill>
                  <a:srgbClr val="EF4444"/>
                </a:solidFill>
                <a:latin typeface="Calibri"/>
              </a:defRPr>
            </a:pPr>
            <a:r>
              <a:t>Facebook/Cambridge Analytica (2018) — 87 millones de perfiles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Datos compartidos sin consentimiento para microtargeting político.</a:t>
            </a:r>
          </a:p>
          <a:p>
            <a:pPr>
              <a:spcAft>
                <a:spcPts val="100"/>
              </a:spcAft>
              <a:defRPr b="0" sz="1100">
                <a:solidFill>
                  <a:srgbClr val="F59E0B"/>
                </a:solidFill>
                <a:latin typeface="Calibri"/>
              </a:defRPr>
            </a:pPr>
            <a:r>
              <a:t>  Lección: Clasificación de datos + consentimiento + auditoría de quién accede a qué.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4630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Lake: Arquitectura y Mejores Prácticas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Qué es, cómo se organiza, y qué evitar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Data Lake vs Data Warehouse vs Data Lakehouse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COMPARACIÓN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2743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F59E0B"/>
                </a:solidFill>
                <a:latin typeface="Calibri"/>
              </a:defRPr>
            </a:pPr>
            <a:r>
              <a:t>Data Warehouse</a:t>
            </a:r>
          </a:p>
          <a:p>
            <a:pPr>
              <a:spcAft>
                <a:spcPts val="300"/>
              </a:spcAft>
              <a:defRPr b="0" sz="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Solo datos estructurados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Schema-on-write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SQL rápido, optimizado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Costoso por GB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Usuarios: analistas BI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Ejemplos: Snowflake,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Redshift, BigQuery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914400"/>
            <a:ext cx="2743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3B82F6"/>
                </a:solidFill>
                <a:latin typeface="Calibri"/>
              </a:defRPr>
            </a:pPr>
            <a:r>
              <a:t>Data Lake</a:t>
            </a:r>
          </a:p>
          <a:p>
            <a:pPr>
              <a:spcAft>
                <a:spcPts val="300"/>
              </a:spcAft>
              <a:defRPr b="0" sz="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Todos los formatos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Schema-on-read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Flexible, escalable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Barato ($0.02/GB/mes)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Usuarios: data eng/sci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Ejemplos: S3+Glue,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ADLS, GCS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914400"/>
            <a:ext cx="3017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10B981"/>
                </a:solidFill>
                <a:latin typeface="Calibri"/>
              </a:defRPr>
            </a:pPr>
            <a:r>
              <a:t>Data Lakehouse</a:t>
            </a:r>
          </a:p>
          <a:p>
            <a:pPr>
              <a:spcAft>
                <a:spcPts val="300"/>
              </a:spcAft>
              <a:defRPr b="0" sz="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Lo mejor de ambos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Schema enforcement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ACID + Time Travel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Barato + rápido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Usuarios: todos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Ejemplos: Databricks,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Delta Lake, Iceberg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Nuestra plataforma implementa un Data Lake con arquitectura Medallion en PostgreSQL. En producción, se usaría S3/ADLS/GCS + Spark/dbt + Athena/BigQuery.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Arquitectura Medallion: Bronze → Silver → Gold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MEDALLION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El estándar de la industria para organizar un Data Lake. Popularizado por Databricks (2020).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56032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BRONZE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Zona de aterrizaje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Datos TAL CUAL llegan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JSONB, CSV, Parquet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Inmutables (append-only)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Con errores, duplicados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Retención: 1-7 años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286000" cy="2743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Zona conformada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Tipado, validado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Deduplicado, normalizado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Quality score calculado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Formato columnar (Parquet)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Linaje a Bronze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46888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Zona de negocio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Agregaciones, KPIs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Vistas materializadas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Modelo dimensional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Acceso controlado por rol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SLAs de calidad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En nuestra plataforma (datos reales):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822960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E2E8F0"/>
                </a:solidFill>
                <a:latin typeface="Consolas"/>
              </a:defRPr>
            </a:pPr>
            <a:r>
              <a:t>Bronze: bronze.ventas_raw      → 8 registros JSONB (con errores intencionales)</a:t>
            </a:r>
            <a:br/>
            <a:r>
              <a:t>        bronze.sensores_raw    → 5 lecturas IoT (con anomalía -5.0 L/s)</a:t>
            </a:r>
            <a:br/>
            <a:br/>
            <a:r>
              <a:t>Silver: silver.ventas_clean     → 7 registros tipados (1 rechazado por NULL)</a:t>
            </a:r>
            <a:br/>
            <a:r>
              <a:t>        silver.sensores_clean  → 5 lecturas validadas (anomalía marcada)</a:t>
            </a:r>
            <a:br/>
            <a:r>
              <a:t>        silver.ventas_masked   → Vista con PII enmascarado</a:t>
            </a:r>
            <a:br/>
            <a:br/>
            <a:r>
              <a:t>Gold:   gold.ventas_por_ciudad  → Agregación por ciudad (vista materializada)</a:t>
            </a:r>
            <a:br/>
            <a:r>
              <a:t>        gold.ventas_por_producto→ Agregación por producto</a:t>
            </a:r>
            <a:br/>
            <a:r>
              <a:t>        gold.estado_sensores   → Dashboard IoT con anomalías</a:t>
            </a:r>
            <a:br/>
            <a:r>
              <a:t>        gold.data_catalog      → Catálogo de metadatos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Anti-patrones: cómo NO gestionar un Data Lake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ANTI-PATRONES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b="1" sz="1400">
                <a:solidFill>
                  <a:srgbClr val="EF4444"/>
                </a:solidFill>
                <a:latin typeface="Calibri"/>
              </a:defRPr>
            </a:pPr>
            <a:r>
              <a:t>1. Data Swamp — tirar todo sin estructura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archivos como 'reporte_final_v2_FIXED_backup.csv' sin metadatos ni organización.</a:t>
            </a:r>
          </a:p>
          <a:p>
            <a:pPr>
              <a:spcAft>
                <a:spcPts val="100"/>
              </a:spcAft>
              <a:defRPr b="0" sz="1100">
                <a:solidFill>
                  <a:srgbClr val="10B981"/>
                </a:solidFill>
                <a:latin typeface="Calibri"/>
              </a:defRPr>
            </a:pPr>
            <a:r>
              <a:t>   → Solución: arquitectura Medallion + catálogo obligatorio (como nuestra plataforma).</a:t>
            </a:r>
          </a:p>
          <a:p>
            <a:pPr>
              <a:spcAft>
                <a:spcPts val="1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400">
                <a:solidFill>
                  <a:srgbClr val="EF4444"/>
                </a:solidFill>
                <a:latin typeface="Calibri"/>
              </a:defRPr>
            </a:pPr>
            <a:r>
              <a:t>2. Todos son admin — sin control de acceso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Un becario puede borrar Bronze. Un analista ve NITs reales sin necesitarlos.</a:t>
            </a:r>
          </a:p>
          <a:p>
            <a:pPr>
              <a:spcAft>
                <a:spcPts val="100"/>
              </a:spcAft>
              <a:defRPr b="0" sz="1100">
                <a:solidFill>
                  <a:srgbClr val="10B981"/>
                </a:solidFill>
                <a:latin typeface="Calibri"/>
              </a:defRPr>
            </a:pPr>
            <a:r>
              <a:t>   → Solución: RBAC con 4 roles + RLS + enmascaramiento PII.</a:t>
            </a:r>
          </a:p>
          <a:p>
            <a:pPr>
              <a:spcAft>
                <a:spcPts val="1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400">
                <a:solidFill>
                  <a:srgbClr val="EF4444"/>
                </a:solidFill>
                <a:latin typeface="Calibri"/>
              </a:defRPr>
            </a:pPr>
            <a:r>
              <a:t>3. JSON everywhere — no convertir a formato columnar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Consultas 10x más lentas, almacenamiento 5x más caro. Athena cobra por byte escaneado.</a:t>
            </a:r>
          </a:p>
          <a:p>
            <a:pPr>
              <a:spcAft>
                <a:spcPts val="100"/>
              </a:spcAft>
              <a:defRPr b="0" sz="1100">
                <a:solidFill>
                  <a:srgbClr val="10B981"/>
                </a:solidFill>
                <a:latin typeface="Calibri"/>
              </a:defRPr>
            </a:pPr>
            <a:r>
              <a:t>   → Solución: Parquet desde Silver. En nuestra plataforma: columnas tipadas con CHECK.</a:t>
            </a:r>
          </a:p>
          <a:p>
            <a:pPr>
              <a:spcAft>
                <a:spcPts val="1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400">
                <a:solidFill>
                  <a:srgbClr val="EF4444"/>
                </a:solidFill>
                <a:latin typeface="Calibri"/>
              </a:defRPr>
            </a:pPr>
            <a:r>
              <a:t>4. Set it and forget it — sin monitoreo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El pipeline se rompe en febrero, nadie se da cuenta hasta abril. Dashboard con datos viejos.</a:t>
            </a:r>
          </a:p>
          <a:p>
            <a:pPr>
              <a:spcAft>
                <a:spcPts val="100"/>
              </a:spcAft>
              <a:defRPr b="0" sz="1100">
                <a:solidFill>
                  <a:srgbClr val="10B981"/>
                </a:solidFill>
                <a:latin typeface="Calibri"/>
              </a:defRPr>
            </a:pPr>
            <a:r>
              <a:t>   → Solución: quality_score + freshness en catálogo + alertas cuando calidad baja de 80%.</a:t>
            </a:r>
          </a:p>
          <a:p>
            <a:pPr>
              <a:spcAft>
                <a:spcPts val="1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400">
                <a:solidFill>
                  <a:srgbClr val="EF4444"/>
                </a:solidFill>
                <a:latin typeface="Calibri"/>
              </a:defRPr>
            </a:pPr>
            <a:r>
              <a:t>5. Sin linaje — no saber de dónde viene el dato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Un KPI parece incorrecto, pero nadie puede rastrear el origen para verificar.</a:t>
            </a:r>
          </a:p>
          <a:p>
            <a:pPr>
              <a:spcAft>
                <a:spcPts val="100"/>
              </a:spcAft>
              <a:defRPr b="0" sz="1100">
                <a:solidFill>
                  <a:srgbClr val="10B981"/>
                </a:solidFill>
                <a:latin typeface="Calibri"/>
              </a:defRPr>
            </a:pPr>
            <a:r>
              <a:t>   → Solución: source_record_id en Silver + tab Linaje con trazabilidad registro por registro.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4630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Capa Bronze en la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Tab 'Bronze (Raw)' — los datos crudos e inmutables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Bronze: qué verás en la plataforma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BRONZE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Al abrir la tab 'Bronze (Raw)' ves 8 tarjetas, cada una es un registro JSONB tal cual llegó del ERP.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Cada tarjeta muestra: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ID del registro, sistema fuente (SAP-ERP), archivo original (export_ventas_20260301.json)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El JSON completo expandido con todos los campos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Etiquetas rojas/amarillas/azules cuando se detectan problemas de calidad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Los 3 errores intencionales (buscarlos es parte del ejercicio):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66160"/>
            <a:ext cx="393192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E2E8F0"/>
                </a:solidFill>
                <a:latin typeface="Consolas"/>
              </a:defRPr>
            </a:pPr>
            <a:r>
              <a:t>Registro #4:</a:t>
            </a:r>
            <a:br/>
            <a:r>
              <a:t>  "cantidad": null    ← NULL</a:t>
            </a:r>
            <a:br/>
            <a:r>
              <a:t>  "vendedor": ""      ← vacío</a:t>
            </a:r>
            <a:br/>
            <a:r>
              <a:t>  "ciudad": "medellin"← sin normalizar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5661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300">
                <a:solidFill>
                  <a:srgbClr val="F59E0B"/>
                </a:solidFill>
                <a:latin typeface="Calibri"/>
              </a:defRPr>
            </a:pPr>
            <a:r>
              <a:t>¿Por qué errores intencionales?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En la vida real, los sistemas fuente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SIEMPRE envían datos sucios.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El Lake debe saber manejarlos.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Regla de oro de Bronze: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12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NUNCA modificar Bronze. Si hay errores, se corrigen en Silver. Bronze es evidencia del dato original — si Silver tiene un bug, puedes reprocesar desde Bronze. Si borras Bronze, pierdes la fuente de verdad.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Bronze: la estructura SQL detrás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¿Por qué JSONB y no columnas tipadas en Bronze?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JSONB acepta CUALQUIER estructura — si el ERP agrega un campo 'descuento', no rompe la tabla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Es schema-on-read: guardas primero, defines esquema después (en Silver)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Puedes almacenar datos de fuentes completamente diferentes en la misma tabla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822960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E2E8F0"/>
                </a:solidFill>
                <a:latin typeface="Consolas"/>
              </a:defRPr>
            </a:pPr>
            <a:r>
              <a:t>-- Así se carga un dato a Bronze (la plataforma lo hizo por ti):</a:t>
            </a:r>
            <a:br/>
            <a:r>
              <a:t>INSERT INTO bronze.ventas_raw (raw_data, source_system, ingested_by, file_name)</a:t>
            </a:r>
            <a:br/>
            <a:r>
              <a:t>VALUES (</a:t>
            </a:r>
            <a:br/>
            <a:r>
              <a:t>  '{"fecha":"2026-03-01","producto":"Sensor IoT X200",</a:t>
            </a:r>
            <a:br/>
            <a:r>
              <a:t>    "cantidad":150,"precio_unit":45000,</a:t>
            </a:r>
            <a:br/>
            <a:r>
              <a:t>    "vendedor":"Juan Pérez","ciudad":"Medellín",</a:t>
            </a:r>
            <a:br/>
            <a:r>
              <a:t>    "cliente_nit":"900123456","cliente_nombre":"Acueducto Municipal"}',</a:t>
            </a:r>
            <a:br/>
            <a:r>
              <a:t>  'SAP-ERP',           -- ¿De qué sistema viene?</a:t>
            </a:r>
            <a:br/>
            <a:r>
              <a:t>  'etl-pipeline',      -- ¿Quién lo cargó?</a:t>
            </a:r>
            <a:br/>
            <a:r>
              <a:t>  'export_ventas_20260301.json'  -- ¿De qué archivo?</a:t>
            </a:r>
            <a:br/>
            <a:r>
              <a:t>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Metadatos de ingestión: source_system, ingested_by, file_name y batch_id permiten rastrear cada carga. Si un lote tiene problemas, puedes identificar y reprocesar solo ese batch.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4630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Capa Silver: transformación y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Tabs 'Silver (Clean)' y 'Bronze vs Silver'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Las 6 transformaciones Bronze → Silver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ETL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Cada transformación resuelve un problema específico de calidad: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Casteo de tipos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93192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E2E8F0"/>
                </a:solidFill>
                <a:latin typeface="Consolas"/>
              </a:defRPr>
            </a:pPr>
            <a:r>
              <a:t>(raw_data-&gt;&gt;'fecha')::date</a:t>
            </a:r>
            <a:br/>
            <a:r>
              <a:t>(raw_data-&gt;&gt;'cantidad')::integer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Texto → tipo correcto. Permite filtros y math.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Tratamiento de vacíos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737360"/>
            <a:ext cx="41148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E2E8F0"/>
                </a:solidFill>
                <a:latin typeface="Consolas"/>
              </a:defRPr>
            </a:pPr>
            <a:r>
              <a:t>COALESCE(NULLIF(vendedor,''),</a:t>
            </a:r>
            <a:br/>
            <a:r>
              <a:t>         'Sin asignar')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String vacío → valor por defecto.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Normalización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393192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E2E8F0"/>
                </a:solidFill>
                <a:latin typeface="Consolas"/>
              </a:defRPr>
            </a:pPr>
            <a:r>
              <a:t>INITCAP(raw_data-&gt;&gt;'ciudad')</a:t>
            </a:r>
            <a:br/>
            <a:r>
              <a:t>-- 'medellin' → 'Medellin'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Consistencia para GROUP BY.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Filtrado de inválidos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926080"/>
            <a:ext cx="41148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E2E8F0"/>
                </a:solidFill>
                <a:latin typeface="Consolas"/>
              </a:defRPr>
            </a:pPr>
            <a:r>
              <a:t>WHERE cantidad IS NOT NULL</a:t>
            </a:r>
            <a:br/>
            <a:r>
              <a:t>  AND cantidad &gt;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83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Rechaza registros imposibles.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5. Quality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393192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E2E8F0"/>
                </a:solidFill>
                <a:latin typeface="Consolas"/>
              </a:defRPr>
            </a:pPr>
            <a:r>
              <a:t>CASE WHEN vendedor=''</a:t>
            </a:r>
            <a:br/>
            <a:r>
              <a:t>  THEN 0.70 ELSE 1.00 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Mide confiabilidad por registro.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840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6. Campo calculado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114800"/>
            <a:ext cx="41148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E2E8F0"/>
                </a:solidFill>
                <a:latin typeface="Consolas"/>
              </a:defRPr>
            </a:pPr>
            <a:r>
              <a:t>ingreso_total GENERATED ALWAYS</a:t>
            </a:r>
            <a:br/>
            <a:r>
              <a:t>  AS (cantidad*precio_unit) STORED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572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Calculado automáticamente, sin errores.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Resultado: 8 Bronze → 7 Silver (1 rechazado: registro #4 por cantidad NULL)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El registro rechazado permanece en Bronze como evidencia. En la tab 'Bronze vs Silver' puedes verlo marcado con etiqueta roja 'RECHAZADO' y el motivo específico.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Tab 'Bronze vs Silver': interpretar la comparación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COMPARAR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Esta tab muestra cada registro Bronze lado a lado con su versión Silver.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Cómo leer cada tarjeta: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Encabezado: B#1 → S#1 (Bronze ID 1 se transformó en Silver ID 1)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Etiqueta VERDE 'LIMPIO': pasó sin problemas, quality_score = 1.00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Etiqueta AMARILLA 'N transformaciones': se corrigieron N campos (vendedor vacío, ciudad)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Etiqueta ROJA 'RECHAZADO': NO pasó a Silver — con motivo (cantidad NULL)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Izquierda: JSON de Bronze con campos problemáticos resaltados en ROJO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Derecha: columnas de Silver con campos corregidos resaltados en VERDE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Footer: detalle de cada transformación aplicada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Ejercicio: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Abre 'Bronze vs Silver'. Encuentra el registro RECHAZADO. ¿Cuántos problemas tenía? ¿Cuáles?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Busca un registro con etiqueta amarilla. ¿Qué campo se transformó? ¿Cómo cambió?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4630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Capa Gold: datos listos para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Tab 'Dashboard Gold'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Gold: vistas materializadas y KPIs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Gold no almacena datos nuevos. Resume y agrega Silver para que el negocio tome decisiones.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8229600" cy="2103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E2E8F0"/>
                </a:solidFill>
                <a:latin typeface="Consolas"/>
              </a:defRPr>
            </a:pPr>
            <a:r>
              <a:t>-- Vista materializada = consulta SQL pre-calculada guardada como tabla</a:t>
            </a:r>
            <a:br/>
            <a:r>
              <a:t>CREATE MATERIALIZED VIEW gold.ventas_por_ciudad AS</a:t>
            </a:r>
            <a:br/>
            <a:r>
              <a:t>SELECT</a:t>
            </a:r>
            <a:br/>
            <a:r>
              <a:t>    ciudad,</a:t>
            </a:r>
            <a:br/>
            <a:r>
              <a:t>    COUNT(*)           AS num_transacciones,    -- ¿Cuántas ventas?</a:t>
            </a:r>
            <a:br/>
            <a:r>
              <a:t>    SUM(cantidad)      AS unidades_vendidas,    -- ¿Cuántas unidades?</a:t>
            </a:r>
            <a:br/>
            <a:r>
              <a:t>    SUM(ingreso_total) AS ingreso_total,        -- ¿Cuánto dinero?</a:t>
            </a:r>
            <a:br/>
            <a:r>
              <a:t>    ROUND(AVG(ingreso_total), 2) AS ticket_promedio,</a:t>
            </a:r>
            <a:br/>
            <a:r>
              <a:t>    ROUND(AVG(quality_score), 2) AS calidad_promedio  -- ¿Qué tan confiable?</a:t>
            </a:r>
            <a:br/>
            <a:r>
              <a:t>FROM silver.ventas_clean    -- SOLO lee Silver, NUNCA Bronze</a:t>
            </a:r>
            <a:br/>
            <a:r>
              <a:t>GROUP BY ciudad ORDER BY ingreso_total DESC;</a:t>
            </a:r>
            <a:br/>
            <a:br/>
            <a:r>
              <a:t>-- Para actualizar después de nuevos datos en Silver:</a:t>
            </a:r>
            <a:br/>
            <a:r>
              <a:t>REFRESH MATERIALIZED VIEW gold.ventas_por_ciudad;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¿Por qué el dashboard SOLO lee Gold?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Rendimiento: Gold ya tiene las agregaciones calculadas → consultas instantáneas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Seguridad: un analista no necesita (ni debe) ver datos individuales con PII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Separación: si Silver se reprocesa, Gold no se afecta hasta que se refresque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Gobernanza: el código dice supabase.from('gold_ventas_por_ciudad') — auditable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Tab 'Dashboard Gold': los 4 KPIs explicados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10B981"/>
                </a:solidFill>
                <a:latin typeface="Calibri"/>
              </a:defRPr>
            </a:pPr>
            <a:r>
              <a:t>KPI 1: Ingreso Total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SUM(cantidad × precio) de todas las ventas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que pasaron de Bronze a Silver.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Formato: moneda colombiana (COP)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Si este número es $0 = problema grave.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9144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3B82F6"/>
                </a:solidFill>
                <a:latin typeface="Calibri"/>
              </a:defRPr>
            </a:pPr>
            <a:r>
              <a:t>KPI 2: Transacciones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Número total de ventas aprobadas.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= COUNT(*) de silver.ventas_clean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Si este número es menor que Bronze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= algunos registros fueron rechazados.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F59E0B"/>
                </a:solidFill>
                <a:latin typeface="Calibri"/>
              </a:defRPr>
            </a:pPr>
            <a:r>
              <a:t>KPI 3: Calidad Promedio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Promedio de quality_score de todos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los registros de Silver.</a:t>
            </a:r>
          </a:p>
          <a:p>
            <a:pPr>
              <a:spcAft>
                <a:spcPts val="300"/>
              </a:spcAft>
              <a:defRPr b="0" sz="1200">
                <a:solidFill>
                  <a:srgbClr val="10B981"/>
                </a:solidFill>
                <a:latin typeface="Calibri"/>
              </a:defRPr>
            </a:pPr>
            <a:r>
              <a:t>  &gt; 90% = saludable</a:t>
            </a:r>
          </a:p>
          <a:p>
            <a:pPr>
              <a:spcAft>
                <a:spcPts val="300"/>
              </a:spcAft>
              <a:defRPr b="0" sz="1200">
                <a:solidFill>
                  <a:srgbClr val="EF4444"/>
                </a:solidFill>
                <a:latin typeface="Calibri"/>
              </a:defRPr>
            </a:pPr>
            <a:r>
              <a:t>  &lt; 80% = necesita atención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Medellín tiene 85% por vendedor vacío.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EF4444"/>
                </a:solidFill>
                <a:latin typeface="Calibri"/>
              </a:defRPr>
            </a:pPr>
            <a:r>
              <a:t>KPI 4: Registros Rechazados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Diferencia: Bronze (8) - Silver (7) = 1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Indica calidad de la fuente de datos.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Si este número crece = el ERP tiene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un problema que hay que escalar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al Data Owner del dominio.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Las tablas debajo muestran el detalle por ciudad y por producto con el badge de calidad.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4630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Catálogo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Tab 'Catálogo' — sin catálogo, tu Lake es un pantano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Tab 'Catálogo': el registro central de metadatos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CATÁLOGO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El catálogo responde: '¿Qué datos tenemos? ¿De quién son? ¿Son confiables? ¿Tienen datos personales?'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Cada dataset tiene estos metadatos obligatorios: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Identificación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schema_name: bronze/silver/gold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table_name: ventas_raw, etc.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description: texto legible</a:t>
            </a:r>
          </a:p>
          <a:p>
            <a:pPr>
              <a:spcAft>
                <a:spcPts val="2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Responsabilidad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owner: equipo-datos, equipo-iot,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equipo-bi (Data Stewardship)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Seguridad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classification: public/internal/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confidential/restricted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has_pii: ¿tiene datos personales?</a:t>
            </a:r>
          </a:p>
          <a:p>
            <a:pPr>
              <a:spcAft>
                <a:spcPts val="2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Calidad y frescura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quality_score: 0.00 a 1.00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freshness: daily/hourly/real-time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row_count: filas actuales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Ejemplo visual en la plataforma: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bronze.ventas_raw: badge BRONZE ámbar + badge CONFIDENTIAL rojo + badge PII rojo + barra 85%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gold.estado_sensores: badge GOLD verde + badge PUBLIC gris + barra 97% verde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La barra visual cambia de color: verde (&gt;=95%), azul (&gt;=90%), ámbar (&gt;=85%), rojo (&lt;85%)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4630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Calidad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Tab 'Calidad' — las 6 dimensiones del DAMA-DMBOK2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Las 6 dimensiones de calidad de datos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DAMA-DMBOK2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El DAMA-DMBOK2 define 6 dimensiones. TODAS están implementadas en la plataforma: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Completitud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b="0" sz="1000">
                <a:solidFill>
                  <a:srgbClr val="CBD5E1"/>
                </a:solidFill>
                <a:latin typeface="Calibri"/>
              </a:defRPr>
            </a:pPr>
            <a:r>
              <a:t>  Pregunta: ¿Faltan valores?</a:t>
            </a:r>
          </a:p>
          <a:p>
            <a:pPr>
              <a:spcAft>
                <a:spcPts val="100"/>
              </a:spcAft>
              <a:defRPr b="0" sz="1000">
                <a:solidFill>
                  <a:srgbClr val="06B6D4"/>
                </a:solidFill>
                <a:latin typeface="Calibri"/>
              </a:defRPr>
            </a:pPr>
            <a:r>
              <a:t>  Regla: cantidad NOT NULL</a:t>
            </a:r>
          </a:p>
          <a:p>
            <a:pPr>
              <a:spcAft>
                <a:spcPts val="1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Ejemplo: 1 registro rechazado por NULL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463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Validez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73736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b="0" sz="1000">
                <a:solidFill>
                  <a:srgbClr val="CBD5E1"/>
                </a:solidFill>
                <a:latin typeface="Calibri"/>
              </a:defRPr>
            </a:pPr>
            <a:r>
              <a:t>  Pregunta: ¿Los valores son posibles?</a:t>
            </a:r>
          </a:p>
          <a:p>
            <a:pPr>
              <a:spcAft>
                <a:spcPts val="100"/>
              </a:spcAft>
              <a:defRPr b="0" sz="1000">
                <a:solidFill>
                  <a:srgbClr val="06B6D4"/>
                </a:solidFill>
                <a:latin typeface="Calibri"/>
              </a:defRPr>
            </a:pPr>
            <a:r>
              <a:t>  Regla: cantidad &gt; 0, precio &gt; 0</a:t>
            </a:r>
          </a:p>
          <a:p>
            <a:pPr>
              <a:spcAft>
                <a:spcPts val="1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Ejemplo: Caudal -5.0 L/s = anomalía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Consistencia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b="0" sz="1000">
                <a:solidFill>
                  <a:srgbClr val="CBD5E1"/>
                </a:solidFill>
                <a:latin typeface="Calibri"/>
              </a:defRPr>
            </a:pPr>
            <a:r>
              <a:t>  Pregunta: ¿Mismo formato?</a:t>
            </a:r>
          </a:p>
          <a:p>
            <a:pPr>
              <a:spcAft>
                <a:spcPts val="100"/>
              </a:spcAft>
              <a:defRPr b="0" sz="1000">
                <a:solidFill>
                  <a:srgbClr val="06B6D4"/>
                </a:solidFill>
                <a:latin typeface="Calibri"/>
              </a:defRPr>
            </a:pPr>
            <a:r>
              <a:t>  Regla: INITCAP(ciudad)</a:t>
            </a:r>
          </a:p>
          <a:p>
            <a:pPr>
              <a:spcAft>
                <a:spcPts val="1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Ejemplo: "medellin" → "Medellin"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26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Unicidad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b="0" sz="1000">
                <a:solidFill>
                  <a:srgbClr val="CBD5E1"/>
                </a:solidFill>
                <a:latin typeface="Calibri"/>
              </a:defRPr>
            </a:pPr>
            <a:r>
              <a:t>  Pregunta: ¿Hay duplicados?</a:t>
            </a:r>
          </a:p>
          <a:p>
            <a:pPr>
              <a:spcAft>
                <a:spcPts val="100"/>
              </a:spcAft>
              <a:defRPr b="0" sz="1000">
                <a:solidFill>
                  <a:srgbClr val="06B6D4"/>
                </a:solidFill>
                <a:latin typeface="Calibri"/>
              </a:defRPr>
            </a:pPr>
            <a:r>
              <a:t>  Regla: Deduplicación por ID</a:t>
            </a:r>
          </a:p>
          <a:p>
            <a:pPr>
              <a:spcAft>
                <a:spcPts val="1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Ejemplo: Sin duplicados en Silver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5. Oportunidad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b="0" sz="1000">
                <a:solidFill>
                  <a:srgbClr val="CBD5E1"/>
                </a:solidFill>
                <a:latin typeface="Calibri"/>
              </a:defRPr>
            </a:pPr>
            <a:r>
              <a:t>  Pregunta: ¿Datos frescos?</a:t>
            </a:r>
          </a:p>
          <a:p>
            <a:pPr>
              <a:spcAft>
                <a:spcPts val="100"/>
              </a:spcAft>
              <a:defRPr b="0" sz="1000">
                <a:solidFill>
                  <a:srgbClr val="06B6D4"/>
                </a:solidFill>
                <a:latin typeface="Calibri"/>
              </a:defRPr>
            </a:pPr>
            <a:r>
              <a:t>  Regla: freshness en catálogo</a:t>
            </a:r>
          </a:p>
          <a:p>
            <a:pPr>
              <a:spcAft>
                <a:spcPts val="1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Ejemplo: daily, hourly, 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389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6. Confiabilidad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6634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b="0" sz="1000">
                <a:solidFill>
                  <a:srgbClr val="CBD5E1"/>
                </a:solidFill>
                <a:latin typeface="Calibri"/>
              </a:defRPr>
            </a:pPr>
            <a:r>
              <a:t>  Pregunta: ¿Puedo confiar?</a:t>
            </a:r>
          </a:p>
          <a:p>
            <a:pPr>
              <a:spcAft>
                <a:spcPts val="100"/>
              </a:spcAft>
              <a:defRPr b="0" sz="1000">
                <a:solidFill>
                  <a:srgbClr val="06B6D4"/>
                </a:solidFill>
                <a:latin typeface="Calibri"/>
              </a:defRPr>
            </a:pPr>
            <a:r>
              <a:t>  Regla: quality_score por registro</a:t>
            </a:r>
          </a:p>
          <a:p>
            <a:pPr>
              <a:spcAft>
                <a:spcPts val="1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Ejemplo: 0.70 = sospechoso, 1.00 = 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Tab 'Calidad' muestra: 5 métricas arriba + 7 reglas activas + problemas detectados + barras por dataset.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Tab 'Calidad': cómo interpretarla paso a paso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OPERACIÓN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Al abrir esta tab, lee de arriba hacia abajo: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b="1" sz="1400">
                <a:solidFill>
                  <a:srgbClr val="FFFFFF"/>
                </a:solidFill>
                <a:latin typeface="Calibri"/>
              </a:defRPr>
            </a:pPr>
            <a:r>
              <a:t>Sección 1 — Métricas globales (5 tarjetas)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Registros Bronze: 8 | Aprobados Silver: 7 | Rechazados: 1 | Tasa: 87% | Score: 96%</a:t>
            </a:r>
          </a:p>
          <a:p>
            <a:pPr>
              <a:spcAft>
                <a:spcPts val="1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Si la tasa baja = el sistema fuente está enviando peores datos. Escalar al Data Owner.</a:t>
            </a:r>
          </a:p>
          <a:p>
            <a:pPr>
              <a:spcAft>
                <a:spcPts val="1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400">
                <a:solidFill>
                  <a:srgbClr val="FFFFFF"/>
                </a:solidFill>
                <a:latin typeface="Calibri"/>
              </a:defRPr>
            </a:pPr>
            <a:r>
              <a:t>Sección 2 — Barra visual del pipeline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Barra verde (7 aprobados) + roja (1 rechazado) = visualización inmediata del filtro.</a:t>
            </a:r>
          </a:p>
          <a:p>
            <a:pPr>
              <a:spcAft>
                <a:spcPts val="1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400">
                <a:solidFill>
                  <a:srgbClr val="FFFFFF"/>
                </a:solidFill>
                <a:latin typeface="Calibri"/>
              </a:defRPr>
            </a:pPr>
            <a:r>
              <a:t>Sección 3 — Reglas de calidad activas (tabla izquierda)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7 reglas con su tipo (Completitud, Validez, Consistencia, Unicidad, Confiabilidad).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Cada regla tiene estado: 'Activa — filtró registros' o 'Activa — normaliza'.</a:t>
            </a:r>
          </a:p>
          <a:p>
            <a:pPr>
              <a:spcAft>
                <a:spcPts val="1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400">
                <a:solidFill>
                  <a:srgbClr val="FFFFFF"/>
                </a:solidFill>
                <a:latin typeface="Calibri"/>
              </a:defRPr>
            </a:pPr>
            <a:r>
              <a:t>Sección 4 — Problemas detectados (panel derecho)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3 problemas en Bronze, cada uno con severidad: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🔴 CRÍTICO: cantidad NULL (bloquea) | 🟡 WARNING: vendedor vacío (corrige) | 🔵 INFO: ciudad (normaliza)</a:t>
            </a:r>
          </a:p>
          <a:p>
            <a:pPr>
              <a:spcAft>
                <a:spcPts val="1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400">
                <a:solidFill>
                  <a:srgbClr val="FFFFFF"/>
                </a:solidFill>
                <a:latin typeface="Calibri"/>
              </a:defRPr>
            </a:pPr>
            <a:r>
              <a:t>Sección 5 — Quality Score por dataset (barras abajo)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Cada dataset del catálogo con su barra visual de calidad. Verde &gt; Azul &gt; Ámbar &gt; Rojo.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4630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Linaje de Datos (Data Lineage)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Tab 'Linaje' — ¿de dónde viene cada dato?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¿Qué es el linaje y por qué es crítico?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LINAJE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El linaje de datos (data lineage) documenta el ORIGEN, las TRANSFORMACIONES y el DESTINO de cada dato. Responde: 'este KPI de $22M en Barranquilla... ¿de dónde sale?'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¿Cuándo necesitas el linaje?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Cuando un KPI parece incorrecto y necesitas rastrear la causa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Cuando un regulador pregunta cómo se calculó un reporte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Cuando cambias un pipeline y necesitas saber qué reportes se afectan (impact analysis)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Cuando necesitas cumplir GDPR Art. 15: derecho de acceso — explicar qué datos tienes y de dónde vienen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Tab 'Linaje' en la plataforma tiene 2 secciones: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1. Grafo macro: FUENTE → BRONZE → SILVER → GOLD → CONSUMO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 Cada nivel muestra las tablas, transformaciones aplicadas y conteo de registros.</a:t>
            </a:r>
          </a:p>
          <a:p>
            <a:pPr>
              <a:spcAft>
                <a:spcPts val="2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 SAP ERP + IoT Gateway → ventas_raw + sensores_raw → ventas_clean → ventas_por_ciudad → Dashboard</a:t>
            </a:r>
          </a:p>
          <a:p>
            <a:pPr>
              <a:spcAft>
                <a:spcPts val="2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2. Tabla de linaje por registro: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 Silver ID → Producto → Ciudad → Calidad → Bronze ID → Sistema → Archivo</a:t>
            </a:r>
          </a:p>
          <a:p>
            <a:pPr>
              <a:spcAft>
                <a:spcPts val="2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 S#1 → Sensor IoT X200 → Medellín → 100% ← B#1 ← SAP-ERP ← export_ventas_20260301.json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Linaje: la implementación técnica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El linaje se implementa con una foreign key de Silver a Bronze: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E2E8F0"/>
                </a:solidFill>
                <a:latin typeface="Consolas"/>
              </a:defRPr>
            </a:pPr>
            <a:r>
              <a:t>-- En silver.ventas_clean:</a:t>
            </a:r>
            <a:br/>
            <a:r>
              <a:t>source_record_id BIGINT REFERENCES bronze.ventas_raw(id)</a:t>
            </a:r>
            <a:br/>
            <a:r>
              <a:t>-- Cada registro Silver sabe exactamente de qué registro Bronze vino.</a:t>
            </a:r>
            <a:br/>
            <a:br/>
            <a:r>
              <a:t>-- Para rastrear un dato sospechoso en Gold:</a:t>
            </a:r>
            <a:br/>
            <a:r>
              <a:t>-- Paso 1: ¿Qué registros Silver componen el KPI de Barranquilla?</a:t>
            </a:r>
            <a:br/>
            <a:r>
              <a:t>SELECT * FROM silver.ventas_clean WHERE ciudad = 'Barranquilla';</a:t>
            </a:r>
            <a:br/>
            <a:r>
              <a:t>-- Paso 2: ¿De qué registro Bronze vino?</a:t>
            </a:r>
            <a:br/>
            <a:r>
              <a:t>SELECT * FROM bronze.ventas_raw WHERE id = 5;  -- source_record_id = 5</a:t>
            </a:r>
            <a:br/>
            <a:r>
              <a:t>-- Resultado: Bomba Sumergible BS30, 25 uds × $890K = $22.250.000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En producción, herramientas que automatizan esto: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Apache Atlas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Open source (Apache Foundation)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Integrado con Hadoop/Hive/Spark</a:t>
            </a:r>
          </a:p>
          <a:p>
            <a:pPr>
              <a:spcAft>
                <a:spcPts val="200"/>
              </a:spcAft>
              <a:defRPr b="0" sz="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OpenLineage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Estándar abierto para linaje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Integrado con Airflow, dbt, Spark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657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dbt lineage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Linaje automático desde SQL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Grafo visual en dbt Cloud</a:t>
            </a:r>
          </a:p>
          <a:p>
            <a:pPr>
              <a:spcAft>
                <a:spcPts val="200"/>
              </a:spcAft>
              <a:defRPr b="0" sz="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Microsoft Purview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Enterprise governance platform</a:t>
            </a:r>
          </a:p>
          <a:p>
            <a:pPr>
              <a:spcAft>
                <a:spcPts val="2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Catálogo + linaje + clasificación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4630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Seguridad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Tabs 'Usuarios' — RLS, enmascaramiento y RBAC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Los 4 roles y sus permisos exactos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RBAC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Principio de mínimo privilegio: cada usuario accede SOLO a lo que necesita para su trabajo.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EF4444"/>
                </a:solidFill>
                <a:latin typeface="Calibri"/>
              </a:defRPr>
            </a:pPr>
            <a:r>
              <a:t>ADMIN — Admin Lake (TI)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Bronze R/W + Silver R/W + Gold R/W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Audit R + Admin: gestiona todo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Solo personal de TI/Gobernanza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10B981"/>
                </a:solidFill>
                <a:latin typeface="Calibri"/>
              </a:defRPr>
            </a:pPr>
            <a:r>
              <a:t>DATA ENGINEER — Carlos (TI)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Bronze R/W + Silver R/W + Gold R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Carga datos, construye pipelines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No puede modificar Gold ni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8B5CF6"/>
                </a:solidFill>
                <a:latin typeface="Calibri"/>
              </a:defRPr>
            </a:pPr>
            <a:r>
              <a:t>DATA SCIENTIST — María (Innov.)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Silver MASKED R + Gold R + Sandbox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Ve ventas_masked, NO ventas_clean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NIT: '900****56' (no ve el real)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4747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3B82F6"/>
                </a:solidFill>
                <a:latin typeface="Calibri"/>
              </a:defRPr>
            </a:pPr>
            <a:r>
              <a:t>ANALYST — Pedro (Comercial)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Gold R solamente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Solo datos agregados y limpios</a:t>
            </a:r>
          </a:p>
          <a:p>
            <a:pPr>
              <a:spcAft>
                <a:spcPts val="3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No ve Bronze, Silver, ni PII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En la tab 'Usuarios': cada tarjeta muestra el nombre, email, rol con color, departamento y permisos exactos.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Enmascaramiento de PII: proteger datos personales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PII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PII = Personally Identifiable Information. En Colombia, la Ley 1581 exige protección especial.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Datos PII en nuestra plataforma: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cliente_nit: número de identificación tributaria (NIT) — identifica al cliente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cliente_nombre: nombre de la empresa — puede identificar personas naturales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La vista enmascarada: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822960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E2E8F0"/>
                </a:solidFill>
                <a:latin typeface="Consolas"/>
              </a:defRPr>
            </a:pPr>
            <a:r>
              <a:t>-- silver.ventas_masked — lo que ve María (data_scientist):</a:t>
            </a:r>
            <a:br/>
            <a:r>
              <a:t>CREATE VIEW silver.ventas_masked AS</a:t>
            </a:r>
            <a:br/>
            <a:r>
              <a:t>SELECT</a:t>
            </a:r>
            <a:br/>
            <a:r>
              <a:t>    id, fecha, producto, cantidad, precio_unit, vendedor, ciudad,</a:t>
            </a:r>
            <a:br/>
            <a:br/>
            <a:r>
              <a:t>    -- NIT: "900123456" → "900****56"</a:t>
            </a:r>
            <a:br/>
            <a:r>
              <a:t>    CONCAT(LEFT(cliente_nit, 3), '****', RIGHT(cliente_nit, 2))</a:t>
            </a:r>
            <a:br/>
            <a:r>
              <a:t>        AS cliente_nit_masked,</a:t>
            </a:r>
            <a:br/>
            <a:br/>
            <a:r>
              <a:t>    -- Nombre: "Acueducto Municipal" → "Acu***"</a:t>
            </a:r>
            <a:br/>
            <a:r>
              <a:t>    CONCAT(LEFT(cliente_nombre, 3), '***')</a:t>
            </a:r>
            <a:br/>
            <a:r>
              <a:t>        AS cliente_nombre_masked,</a:t>
            </a:r>
            <a:br/>
            <a:br/>
            <a:r>
              <a:t>    ingreso_total, quality_score</a:t>
            </a:r>
            <a:br/>
            <a:r>
              <a:t>FROM silver.ventas_clean;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María puede analizar patrones de ventas por producto y ciudad sin nunca ver la identidad real del cliente. Esto cumple con el principio de minimización de datos del GDPR y Habeas Data.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Row Level Security (RLS): control a nivel de fila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RLS es una feature nativa de PostgreSQL que filtra filas según el usuario conectado.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2286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E2E8F0"/>
                </a:solidFill>
                <a:latin typeface="Consolas"/>
              </a:defRPr>
            </a:pPr>
            <a:r>
              <a:t>-- 1. Habilitar RLS (sin esto, todos ven todo)</a:t>
            </a:r>
            <a:br/>
            <a:r>
              <a:t>ALTER TABLE silver.ventas_clean ENABLE ROW LEVEL SECURITY;</a:t>
            </a:r>
            <a:br/>
            <a:br/>
            <a:r>
              <a:t>-- 2. Política: solo engineers y admins ven Silver completo</a:t>
            </a:r>
            <a:br/>
            <a:r>
              <a:t>CREATE POLICY "engineers_full_access"</a:t>
            </a:r>
            <a:br/>
            <a:r>
              <a:t>    ON silver.ventas_clean</a:t>
            </a:r>
            <a:br/>
            <a:r>
              <a:t>    FOR ALL</a:t>
            </a:r>
            <a:br/>
            <a:r>
              <a:t>    USING (</a:t>
            </a:r>
            <a:br/>
            <a:r>
              <a:t>        EXISTS (</a:t>
            </a:r>
            <a:br/>
            <a:r>
              <a:t>            SELECT 1 FROM public.lake_users</a:t>
            </a:r>
            <a:br/>
            <a:r>
              <a:t>            WHERE email = current_setting('app.current_user_email')</a:t>
            </a:r>
            <a:br/>
            <a:r>
              <a:t>            AND role IN ('data_engineer', 'admin')</a:t>
            </a:r>
            <a:br/>
            <a:r>
              <a:t>        )</a:t>
            </a:r>
            <a:br/>
            <a:r>
              <a:t>    );</a:t>
            </a:r>
            <a:br/>
            <a:br/>
            <a:r>
              <a:t>-- Sin esta política, un SELECT a silver.ventas_clean devuelve 0 filas</a:t>
            </a:r>
            <a:br/>
            <a:r>
              <a:t>-- para cualquier usuario que no sea engineer o admin.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Diferencia práctica: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300">
                <a:solidFill>
                  <a:srgbClr val="EF4444"/>
                </a:solidFill>
                <a:latin typeface="Calibri"/>
              </a:defRPr>
            </a:pPr>
            <a:r>
              <a:t>Sin RLS: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SELECT * FROM silver.ventas_clean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→ 7 filas (todos ven todo)</a:t>
            </a:r>
          </a:p>
          <a:p>
            <a:pPr>
              <a:spcAft>
                <a:spcPts val="300"/>
              </a:spcAft>
              <a:defRPr b="0" sz="1100">
                <a:solidFill>
                  <a:srgbClr val="EF4444"/>
                </a:solidFill>
                <a:latin typeface="Calibri"/>
              </a:defRPr>
            </a:pPr>
            <a:r>
              <a:t>  Riesgo: NIT visible para analistas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2976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300">
                <a:solidFill>
                  <a:srgbClr val="10B981"/>
                </a:solidFill>
                <a:latin typeface="Calibri"/>
              </a:defRPr>
            </a:pPr>
            <a:r>
              <a:t>Con RLS: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Pedro (analyst) → 0 filas</a:t>
            </a:r>
          </a:p>
          <a:p>
            <a:pPr>
              <a:spcAft>
                <a:spcPts val="300"/>
              </a:spcAft>
              <a:defRPr b="0" sz="1100">
                <a:solidFill>
                  <a:srgbClr val="CBD5E1"/>
                </a:solidFill>
                <a:latin typeface="Calibri"/>
              </a:defRPr>
            </a:pPr>
            <a:r>
              <a:t>  María → vía ventas_masked (PII oculto)</a:t>
            </a:r>
          </a:p>
          <a:p>
            <a:pPr>
              <a:spcAft>
                <a:spcPts val="300"/>
              </a:spcAft>
              <a:defRPr b="0" sz="1100">
                <a:solidFill>
                  <a:srgbClr val="10B981"/>
                </a:solidFill>
                <a:latin typeface="Calibri"/>
              </a:defRPr>
            </a:pPr>
            <a:r>
              <a:t>  Carlos (engineer) → 7 filas completas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4630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Auditoría de Accesos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Tab 'Auditoría' — cumplimiento regulatorio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Tab 'Auditoría': cada acceso queda registrado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AUDITORÍA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La auditoría responde: '¿Quién accedió a qué datos, cuándo, cuánto y desde dónde?'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Columnas del log: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timestamp: fecha y hora exacta del acceso (ej: 15/03/2026 10:30:22)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user_email: quién (ej: pedro.analista@eafit.edu.co)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user_role: rol del usuario (ej: analyst, data_engineer)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action: qué hizo → SELECT (consultó), INSERT (cargó), EXPORT (descargó)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schema.table: qué tabla (ej: gold.ventas_por_ciudad)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row_count: cuántas filas accedió (ej: 5)</a:t>
            </a:r>
          </a:p>
          <a:p>
            <a:pPr>
              <a:spcAft>
                <a:spcPts val="2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ip_address: desde qué red (ej: 10.0.3.8)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Escenarios reales donde usarías este log: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Regulador pregunta: '¿Quién accedió a datos PII en el último mes?' → filtrar por tabla + PII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Incidente: '¿Quién descargó (EXPORT) datos de clientes?' → filtrar action='EXPORT'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Verificación: '¿Pedro (analyst) intentó acceder a Bronze?' → filtrar email + schema='bronze'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Compliance: '¿Todos los accesos a datos confidenciales fueron de personal autorizado?'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4630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Operando la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Guía paso a paso por las 11 tabs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Sensores IoT: detección de anomalías en Gold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La tab 'Sensores IoT' consume gold.estado_sensores — una vista materializada.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Cada tarjeta muestra: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Sensor ID + ubicación + tipo (caudal, presión, calidad, nivel)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4 métricas: promedio, mínimo, máximo, total lecturas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Batería con color: verde &gt;70%, ámbar 50-70%, rojo &lt;50% (SEN-004 = 45%)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Badge rojo 'Anomalía' si alguna lectura es físicamente imposible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Caso de anomalía — SEN-001 (Planta Norte):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66160"/>
            <a:ext cx="822960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E2E8F0"/>
                </a:solidFill>
                <a:latin typeface="Consolas"/>
              </a:defRPr>
            </a:pPr>
            <a:r>
              <a:t>-- SEN-001 tiene 2 lecturas de caudal:</a:t>
            </a:r>
            <a:br/>
            <a:r>
              <a:t>-- Lectura 1: 245.7 L/s (normal — caudal de planta)</a:t>
            </a:r>
            <a:br/>
            <a:r>
              <a:t>-- Lectura 2: -5.0 L/s  (IMPOSIBLE — caudal no puede ser negativo)</a:t>
            </a:r>
            <a:br/>
            <a:br/>
            <a:r>
              <a:t>-- Pipeline Bronze→Silver marcó la lectura negativa:</a:t>
            </a:r>
            <a:br/>
            <a:r>
              <a:t>is_anomaly = CASE WHEN valor &lt; 0 THEN TRUE ELSE FALSE END</a:t>
            </a:r>
            <a:br/>
            <a:br/>
            <a:r>
              <a:t>-- Gold agrega con BOOL_OR:</a:t>
            </a:r>
            <a:br/>
            <a:r>
              <a:t>tiene_anomalias = BOOL_OR(is_anomaly)  -- TRUE si CUALQUIER lectura es anómala</a:t>
            </a:r>
            <a:br/>
            <a:br/>
            <a:r>
              <a:t>-- En la plataforma: SEN-001 muestra badge rojo "Anomalía detectada"</a:t>
            </a:r>
            <a:br/>
            <a:r>
              <a:t>-- Acción: el operador debe revisar el sensor (calibración o falla)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En producción: estas anomalías dispararían alertas por Slack/PagerDuty al equipo de operaciones.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Flujo recomendado para explorar la plataforma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GUÍA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b="1" sz="1500">
                <a:solidFill>
                  <a:srgbClr val="F59E0B"/>
                </a:solidFill>
                <a:latin typeface="Calibri"/>
              </a:defRPr>
            </a:pPr>
            <a:r>
              <a:t>Paso 1 → Tab 'Bronze (Raw)'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 Ve los 8 registros JSONB. Identifica los 3 errores del registro #4.</a:t>
            </a:r>
          </a:p>
          <a:p>
            <a:pPr>
              <a:spcAft>
                <a:spcPts val="100"/>
              </a:spcAft>
              <a:defRPr b="0" sz="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500">
                <a:solidFill>
                  <a:srgbClr val="06B6D4"/>
                </a:solidFill>
                <a:latin typeface="Calibri"/>
              </a:defRPr>
            </a:pPr>
            <a:r>
              <a:t>Paso 2 → Tab 'Bronze vs Silver'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 Compara antes/después. Encuentra el registro RECHAZADO y los TRANSFORMADOS.</a:t>
            </a:r>
          </a:p>
          <a:p>
            <a:pPr>
              <a:spcAft>
                <a:spcPts val="100"/>
              </a:spcAft>
              <a:defRPr b="0" sz="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500">
                <a:solidFill>
                  <a:srgbClr val="8B5CF6"/>
                </a:solidFill>
                <a:latin typeface="Calibri"/>
              </a:defRPr>
            </a:pPr>
            <a:r>
              <a:t>Paso 3 → Tab 'Silver (Clean)'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 Ve los 7 registros limpios. Nota quality_score, ingreso_total calculado, source_record_id.</a:t>
            </a:r>
          </a:p>
          <a:p>
            <a:pPr>
              <a:spcAft>
                <a:spcPts val="100"/>
              </a:spcAft>
              <a:defRPr b="0" sz="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500">
                <a:solidFill>
                  <a:srgbClr val="10B981"/>
                </a:solidFill>
                <a:latin typeface="Calibri"/>
              </a:defRPr>
            </a:pPr>
            <a:r>
              <a:t>Paso 4 → Tab 'Dashboard Gold'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 Lee los 4 KPIs. ¿Por qué Medellín tiene 85% de calidad? ¿Cuántos rechazados hay?</a:t>
            </a:r>
          </a:p>
          <a:p>
            <a:pPr>
              <a:spcAft>
                <a:spcPts val="100"/>
              </a:spcAft>
              <a:defRPr b="0" sz="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500">
                <a:solidFill>
                  <a:srgbClr val="F59E0B"/>
                </a:solidFill>
                <a:latin typeface="Calibri"/>
              </a:defRPr>
            </a:pPr>
            <a:r>
              <a:t>Paso 5 → Tab 'Calidad'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 Revisa las 7 reglas activas. ¿Qué problemas se detectaron? ¿Cuál es la tasa de aprobación?</a:t>
            </a:r>
          </a:p>
          <a:p>
            <a:pPr>
              <a:spcAft>
                <a:spcPts val="100"/>
              </a:spcAft>
              <a:defRPr b="0" sz="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500">
                <a:solidFill>
                  <a:srgbClr val="8B5CF6"/>
                </a:solidFill>
                <a:latin typeface="Calibri"/>
              </a:defRPr>
            </a:pPr>
            <a:r>
              <a:t>Paso 6 → Tab 'Linaje'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 Sigue el grafo FUENTE→BRONZE→SILVER→GOLD. Rastrea un registro Silver hasta su Bronze.</a:t>
            </a:r>
          </a:p>
          <a:p>
            <a:pPr>
              <a:spcAft>
                <a:spcPts val="100"/>
              </a:spcAft>
              <a:defRPr b="0" sz="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500">
                <a:solidFill>
                  <a:srgbClr val="FFFFFF"/>
                </a:solidFill>
                <a:latin typeface="Calibri"/>
              </a:defRPr>
            </a:pPr>
            <a:r>
              <a:t>Paso 7 → Tabs 'Catálogo' + 'Auditoría' + 'Usuarios' + 'Sensores' + 'Arquitectura'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  Explora metadatos, accesos, roles, anomalías IoT y el stack técnico completo.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31920" y="14630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Modelo de Madurez y Siguientes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¿Dónde estamos y hacia dónde vamos?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Modelo de Madurez de Gobernanza de Datos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MADUREZ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Basado en CMMI y adaptado a Data Governance (Stanford/DAMA):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Calibri"/>
              </a:defRPr>
            </a:pPr>
            <a:r>
              <a:t>Nivel 1 — Inicial (Ad-hoc)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  No hay procesos. Cada equipo maneja sus datos.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Nivel 2 — Repetible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  Procesos básicos. Algunos estándares. Sin automatización.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Nivel 3 — Definido ← NUESTRA PLATAFORMA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  Procesos documentados. Catálogo, calidad, linaje, roles definidos.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Nivel 4 — Gestionado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8055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  Métricas de calidad monitoreadas. SLAs definidos. Alertas automáticas.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Nivel 5 — Optimizado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9495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  Mejora continua. ML para calidad. Self-service data. DataOps.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Nuestra plataforma está en Nivel 3: procesos definidos, catálogo, calidad, linaje, roles. Para Nivel 4, necesitamos alertas automáticas y SLAs.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Siguientes pasos para llevar esto a producción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FUTURO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b="1" sz="1500">
                <a:solidFill>
                  <a:srgbClr val="3B82F6"/>
                </a:solidFill>
                <a:latin typeface="Calibri"/>
              </a:defRPr>
            </a:pPr>
            <a:r>
              <a:t>Evolución técnica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Migrar a un Data Lake real: S3 (AWS), ADLS (Azure) o GCS (GCP)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Usar Parquet en vez de PostgreSQL para volúmenes masivos (TB+)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Implementar Delta Lake o Apache Iceberg para ACID + Time Travel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Pipeline con Airflow/dbt en vez de SQL manual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Catálogo con Apache Atlas o Microsoft Purview</a:t>
            </a:r>
          </a:p>
          <a:p>
            <a:pPr>
              <a:spcAft>
                <a:spcPts val="1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500">
                <a:solidFill>
                  <a:srgbClr val="8B5CF6"/>
                </a:solidFill>
                <a:latin typeface="Calibri"/>
              </a:defRPr>
            </a:pPr>
            <a:r>
              <a:t>Evolución de gobernanza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Definir Data Owners y Stewards formales por dominio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Crear comité de gobernanza con reuniones periódicas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Implementar SLAs de calidad: 'ventas_clean debe tener calidad &gt;= 95%'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Automatizar alertas cuando quality_score baje de umbral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Glosario de negocio: definir términos como 'venta activa', 'cliente recurrente'</a:t>
            </a:r>
          </a:p>
          <a:p>
            <a:pPr>
              <a:spcAft>
                <a:spcPts val="100"/>
              </a:spcAft>
              <a:defRPr b="0" sz="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500">
                <a:solidFill>
                  <a:srgbClr val="EF4444"/>
                </a:solidFill>
                <a:latin typeface="Calibri"/>
              </a:defRPr>
            </a:pPr>
            <a:r>
              <a:t>Evolución regulatoria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Implementar Data Protection Impact Assessment (DPIA) para nuevos datasets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Proceso formal de solicitud de acceso a datos (workflow de aprobación)</a:t>
            </a:r>
          </a:p>
          <a:p>
            <a:pPr>
              <a:spcAft>
                <a:spcPts val="100"/>
              </a:spcAft>
              <a:defRPr b="0" sz="1200">
                <a:solidFill>
                  <a:srgbClr val="CBD5E1"/>
                </a:solidFill>
                <a:latin typeface="Calibri"/>
              </a:defRPr>
            </a:pPr>
            <a:r>
              <a:t>  Retención automatizada: borrar datos Bronze después de X años (lifecycle policies)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Preguntas de comprensión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REFLEXIÓN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1. ¿Por qué el registro #4 fue rechazado de Silver?</a:t>
            </a:r>
          </a:p>
          <a:p>
            <a:pPr>
              <a:spcAft>
                <a:spcPts val="1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 Porque tiene cantidad = NULL. La regla WHERE cantidad IS NOT NULL lo filtra.</a:t>
            </a:r>
          </a:p>
          <a:p>
            <a:pPr>
              <a:spcAft>
                <a:spcPts val="100"/>
              </a:spcAft>
              <a:defRPr b="0" sz="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2. ¿Qué diferencia hay entre Gobernanza y Gestión de datos?</a:t>
            </a:r>
          </a:p>
          <a:p>
            <a:pPr>
              <a:spcAft>
                <a:spcPts val="1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 Gobernanza DEFINE las políticas (ej: 'PII debe enmascararse'). Gestión las IMPLEMENTA.</a:t>
            </a:r>
          </a:p>
          <a:p>
            <a:pPr>
              <a:spcAft>
                <a:spcPts val="100"/>
              </a:spcAft>
              <a:defRPr b="0" sz="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3. ¿Por qué María (data_scientist) no ve el NIT real?</a:t>
            </a:r>
          </a:p>
          <a:p>
            <a:pPr>
              <a:spcAft>
                <a:spcPts val="1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 Porque accede vía ventas_masked, que aplica CONCAT(LEFT(nit,3),'****',RIGHT(nit,2)).</a:t>
            </a:r>
          </a:p>
          <a:p>
            <a:pPr>
              <a:spcAft>
                <a:spcPts val="100"/>
              </a:spcAft>
              <a:defRPr b="0" sz="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4. ¿Qué regulación colombiana exige proteger datos personales?</a:t>
            </a:r>
          </a:p>
          <a:p>
            <a:pPr>
              <a:spcAft>
                <a:spcPts val="1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 Ley 1581 de 2012 (Habeas Data). Exige consentimiento, finalidad y acceso controlado.</a:t>
            </a:r>
          </a:p>
          <a:p>
            <a:pPr>
              <a:spcAft>
                <a:spcPts val="100"/>
              </a:spcAft>
              <a:defRPr b="0" sz="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5. ¿Qué dimensión de calidad DAMA mide si hay valores faltantes?</a:t>
            </a:r>
          </a:p>
          <a:p>
            <a:pPr>
              <a:spcAft>
                <a:spcPts val="1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 Completitud. Regla: cantidad NOT NULL. 1 registro rechazado por fallar esta dimensión.</a:t>
            </a:r>
          </a:p>
          <a:p>
            <a:pPr>
              <a:spcAft>
                <a:spcPts val="100"/>
              </a:spcAft>
              <a:defRPr b="0" sz="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6. ¿Cómo rastrearías un KPI sospechoso de Gold hasta su origen?</a:t>
            </a:r>
          </a:p>
          <a:p>
            <a:pPr>
              <a:spcAft>
                <a:spcPts val="1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 Gold (agregación) → Silver (source_record_id) → Bronze (JSONB original del ERP).</a:t>
            </a:r>
          </a:p>
          <a:p>
            <a:pPr>
              <a:spcAft>
                <a:spcPts val="100"/>
              </a:spcAft>
              <a:defRPr b="0" sz="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7. ¿Qué pasó con el sensor SEN-001 y por qué importa para gobernanza?</a:t>
            </a:r>
          </a:p>
          <a:p>
            <a:pPr>
              <a:spcAft>
                <a:spcPts val="1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 Midió -5.0 L/s (imposible). El pipeline lo marcó como anomalía. La gobernanza exige</a:t>
            </a:r>
          </a:p>
          <a:p>
            <a:pPr>
              <a:spcAft>
                <a:spcPts val="100"/>
              </a:spcAft>
              <a:defRPr b="0" sz="1100">
                <a:solidFill>
                  <a:srgbClr val="94A3B8"/>
                </a:solidFill>
                <a:latin typeface="Calibri"/>
              </a:defRPr>
            </a:pPr>
            <a:r>
              <a:t>   detectar y alertar sobre datos que no tienen sentido físico.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Glosario de la lección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256032"/>
            <a:ext cx="118872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REFERENCIA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931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DAMA-DMBOK2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Framework de gestión de datos (11 áreas)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Data Lake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Repositorio centralizado, cualquier formato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Medallion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Arquitectura Bronze → Silver → Gold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Schema-on-read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Esquema se define al consultar, no al cargar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ETL / ELT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Extract-Transform-Load / Extract-Load-Transform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Quality Score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Métrica numérica de confiabilidad por registro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Data Lineage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Trazabilidad origen → transformación → destino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RLS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Row Level Security — control de acceso por fila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914400"/>
            <a:ext cx="4114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PII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Personally Identifiable Information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RBAC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Role-Based Access Control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PII Masking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Ocultar datos personales en vistas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Habeas Data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Ley 1581/2012 — protección datos Colombia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GDPR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General Data Protection Regulation (EU)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Materialized View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Consulta SQL pre-calculada como tabla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Data Steward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Custodio operativo de un dominio de datos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  <a:latin typeface="Calibri"/>
              </a:defRPr>
            </a:pPr>
            <a:r>
              <a:t>Data Owner</a:t>
            </a:r>
          </a:p>
          <a:p>
            <a:pPr>
              <a:spcAft>
                <a:spcPts val="200"/>
              </a:spcAft>
              <a:defRPr b="0" sz="1000">
                <a:solidFill>
                  <a:srgbClr val="94A3B8"/>
                </a:solidFill>
                <a:latin typeface="Calibri"/>
              </a:defRPr>
            </a:pPr>
            <a:r>
              <a:t>  Responsable estratégico de un dominio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Un Data Lake sin gobernanza</a:t>
            </a:r>
            <a:br/>
            <a:r>
              <a:t>es solo un bucket con datos.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F6"/>
                </a:solidFill>
                <a:latin typeface="Calibri"/>
              </a:defRPr>
            </a:pPr>
            <a:r>
              <a:t>datalake-governance-hub.vercel.app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Calibri"/>
              </a:defRPr>
            </a:pPr>
            <a:r>
              <a:t>Navega las 11 tabs. Compara Bronze vs Silver.</a:t>
            </a:r>
            <a:br/>
            <a:r>
              <a:t>Rastrea el linaje. Revisa la auditoría.</a:t>
            </a:r>
            <a:br/>
            <a:r>
              <a:t>Entiende los roles. Explora el catálogo.</a:t>
            </a:r>
            <a:br/>
            <a:br/>
            <a:r>
              <a:t>La gobernanza de datos no es un proyecto,</a:t>
            </a:r>
            <a:br/>
            <a:r>
              <a:t>es una práctica continua.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Gestión y Gobernanza de Datos — Universidad EAFIT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